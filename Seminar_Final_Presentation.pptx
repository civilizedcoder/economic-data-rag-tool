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65" r:id="rId7"/>
    <p:sldId id="266" r:id="rId8"/>
    <p:sldId id="267" r:id="rId9"/>
    <p:sldId id="262" r:id="rId10"/>
    <p:sldId id="258" r:id="rId11"/>
    <p:sldId id="268" r:id="rId12"/>
    <p:sldId id="260" r:id="rId13"/>
    <p:sldId id="261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A17E8-714C-430D-84A1-4943CD226664}" v="93" dt="2025-12-05T19:32:26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98BBF7-DD1A-47FD-B240-C92BC6D183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CCE43F-1749-457B-82F6-28C26863CD5A}">
      <dgm:prSet/>
      <dgm:spPr/>
      <dgm:t>
        <a:bodyPr/>
        <a:lstStyle/>
        <a:p>
          <a:r>
            <a:rPr lang="en-US"/>
            <a:t>Perceived relations</a:t>
          </a:r>
        </a:p>
      </dgm:t>
    </dgm:pt>
    <dgm:pt modelId="{6164F02E-3B20-43A9-9B00-969A211C3421}" type="parTrans" cxnId="{FAE35937-BEFD-4F6F-B488-F400D31A6211}">
      <dgm:prSet/>
      <dgm:spPr/>
      <dgm:t>
        <a:bodyPr/>
        <a:lstStyle/>
        <a:p>
          <a:endParaRPr lang="en-US"/>
        </a:p>
      </dgm:t>
    </dgm:pt>
    <dgm:pt modelId="{70A1B0CA-4621-4599-92F3-76DD278E522D}" type="sibTrans" cxnId="{FAE35937-BEFD-4F6F-B488-F400D31A6211}">
      <dgm:prSet/>
      <dgm:spPr/>
      <dgm:t>
        <a:bodyPr/>
        <a:lstStyle/>
        <a:p>
          <a:endParaRPr lang="en-US"/>
        </a:p>
      </dgm:t>
    </dgm:pt>
    <dgm:pt modelId="{CA1455E7-25C4-41DC-A3CD-3EC9DCA5DCE4}">
      <dgm:prSet/>
      <dgm:spPr/>
      <dgm:t>
        <a:bodyPr/>
        <a:lstStyle/>
        <a:p>
          <a:r>
            <a:rPr lang="en-US" dirty="0"/>
            <a:t>73.15%</a:t>
          </a:r>
        </a:p>
      </dgm:t>
    </dgm:pt>
    <dgm:pt modelId="{DBB596D2-FD32-4DEB-A35C-F6A91A75CA9C}" type="parTrans" cxnId="{36999E43-0158-46FC-9974-7EE5D93E45DC}">
      <dgm:prSet/>
      <dgm:spPr/>
      <dgm:t>
        <a:bodyPr/>
        <a:lstStyle/>
        <a:p>
          <a:endParaRPr lang="en-US"/>
        </a:p>
      </dgm:t>
    </dgm:pt>
    <dgm:pt modelId="{95B74EEB-BD33-45B2-AE63-7CAD416D53FB}" type="sibTrans" cxnId="{36999E43-0158-46FC-9974-7EE5D93E45DC}">
      <dgm:prSet/>
      <dgm:spPr/>
      <dgm:t>
        <a:bodyPr/>
        <a:lstStyle/>
        <a:p>
          <a:endParaRPr lang="en-US"/>
        </a:p>
      </dgm:t>
    </dgm:pt>
    <dgm:pt modelId="{330F9BCB-E837-4E59-B699-3B63B1B81F02}">
      <dgm:prSet/>
      <dgm:spPr/>
      <dgm:t>
        <a:bodyPr/>
        <a:lstStyle/>
        <a:p>
          <a:r>
            <a:rPr lang="en-US" dirty="0"/>
            <a:t>72.15%</a:t>
          </a:r>
        </a:p>
      </dgm:t>
    </dgm:pt>
    <dgm:pt modelId="{29F3F995-EB52-41CB-8F97-735E1B0BD090}" type="parTrans" cxnId="{188B8B52-9A3F-4334-BE6E-7BC3E2F3301F}">
      <dgm:prSet/>
      <dgm:spPr/>
      <dgm:t>
        <a:bodyPr/>
        <a:lstStyle/>
        <a:p>
          <a:endParaRPr lang="en-US"/>
        </a:p>
      </dgm:t>
    </dgm:pt>
    <dgm:pt modelId="{8EC4E3E8-4B56-40BF-B948-6074875C139B}" type="sibTrans" cxnId="{188B8B52-9A3F-4334-BE6E-7BC3E2F3301F}">
      <dgm:prSet/>
      <dgm:spPr/>
      <dgm:t>
        <a:bodyPr/>
        <a:lstStyle/>
        <a:p>
          <a:endParaRPr lang="en-US"/>
        </a:p>
      </dgm:t>
    </dgm:pt>
    <dgm:pt modelId="{EB91B0CF-7068-442F-8B18-4C80FF62A1B3}">
      <dgm:prSet/>
      <dgm:spPr/>
      <dgm:t>
        <a:bodyPr/>
        <a:lstStyle/>
        <a:p>
          <a:r>
            <a:rPr lang="en-US" dirty="0"/>
            <a:t>71.66%</a:t>
          </a:r>
        </a:p>
      </dgm:t>
    </dgm:pt>
    <dgm:pt modelId="{EE4C853A-337E-45E6-AA55-68BDDA9571E2}" type="parTrans" cxnId="{58C05F5B-7F68-450E-870C-97B0BE107AE2}">
      <dgm:prSet/>
      <dgm:spPr/>
      <dgm:t>
        <a:bodyPr/>
        <a:lstStyle/>
        <a:p>
          <a:endParaRPr lang="en-US"/>
        </a:p>
      </dgm:t>
    </dgm:pt>
    <dgm:pt modelId="{31E7BA8E-241D-4445-A6AC-EB62F8BEE8CC}" type="sibTrans" cxnId="{58C05F5B-7F68-450E-870C-97B0BE107AE2}">
      <dgm:prSet/>
      <dgm:spPr/>
      <dgm:t>
        <a:bodyPr/>
        <a:lstStyle/>
        <a:p>
          <a:endParaRPr lang="en-US"/>
        </a:p>
      </dgm:t>
    </dgm:pt>
    <dgm:pt modelId="{AE2C1DE9-F8F7-4462-8D27-BC285441E99C}" type="pres">
      <dgm:prSet presAssocID="{0998BBF7-DD1A-47FD-B240-C92BC6D183D6}" presName="linear" presStyleCnt="0">
        <dgm:presLayoutVars>
          <dgm:animLvl val="lvl"/>
          <dgm:resizeHandles val="exact"/>
        </dgm:presLayoutVars>
      </dgm:prSet>
      <dgm:spPr/>
    </dgm:pt>
    <dgm:pt modelId="{7B084CDA-5FF3-4A76-AC60-706806629592}" type="pres">
      <dgm:prSet presAssocID="{78CCE43F-1749-457B-82F6-28C26863CD5A}" presName="parentText" presStyleLbl="node1" presStyleIdx="0" presStyleCnt="4" custScaleX="94906" custScaleY="73148" custLinFactY="-36160" custLinFactNeighborX="1122" custLinFactNeighborY="-100000">
        <dgm:presLayoutVars>
          <dgm:chMax val="0"/>
          <dgm:bulletEnabled val="1"/>
        </dgm:presLayoutVars>
      </dgm:prSet>
      <dgm:spPr/>
    </dgm:pt>
    <dgm:pt modelId="{ECB7629D-B8BC-4048-95E7-98E77E6E2637}" type="pres">
      <dgm:prSet presAssocID="{70A1B0CA-4621-4599-92F3-76DD278E522D}" presName="spacer" presStyleCnt="0"/>
      <dgm:spPr/>
    </dgm:pt>
    <dgm:pt modelId="{3EA62BA1-3AAD-4A58-8661-A190D2CE16E7}" type="pres">
      <dgm:prSet presAssocID="{CA1455E7-25C4-41DC-A3CD-3EC9DCA5DCE4}" presName="parentText" presStyleLbl="node1" presStyleIdx="1" presStyleCnt="4" custScaleX="41328" custScaleY="32890" custLinFactY="-25930" custLinFactNeighborX="-25667" custLinFactNeighborY="-100000">
        <dgm:presLayoutVars>
          <dgm:chMax val="0"/>
          <dgm:bulletEnabled val="1"/>
        </dgm:presLayoutVars>
      </dgm:prSet>
      <dgm:spPr/>
    </dgm:pt>
    <dgm:pt modelId="{BF17F2CB-7E78-4C37-AEA2-4D5A95977D3A}" type="pres">
      <dgm:prSet presAssocID="{95B74EEB-BD33-45B2-AE63-7CAD416D53FB}" presName="spacer" presStyleCnt="0"/>
      <dgm:spPr/>
    </dgm:pt>
    <dgm:pt modelId="{80BDD261-D9C0-4F90-BF8C-A36AFC73CB9C}" type="pres">
      <dgm:prSet presAssocID="{330F9BCB-E837-4E59-B699-3B63B1B81F02}" presName="parentText" presStyleLbl="node1" presStyleIdx="2" presStyleCnt="4" custScaleX="41328" custScaleY="32890" custLinFactY="-4349" custLinFactNeighborX="-25667" custLinFactNeighborY="-100000">
        <dgm:presLayoutVars>
          <dgm:chMax val="0"/>
          <dgm:bulletEnabled val="1"/>
        </dgm:presLayoutVars>
      </dgm:prSet>
      <dgm:spPr/>
    </dgm:pt>
    <dgm:pt modelId="{E482BFF4-4E18-4352-8CBB-B424D75798C8}" type="pres">
      <dgm:prSet presAssocID="{8EC4E3E8-4B56-40BF-B948-6074875C139B}" presName="spacer" presStyleCnt="0"/>
      <dgm:spPr/>
    </dgm:pt>
    <dgm:pt modelId="{883F977F-C753-4404-8609-C31BFFAF0A70}" type="pres">
      <dgm:prSet presAssocID="{EB91B0CF-7068-442F-8B18-4C80FF62A1B3}" presName="parentText" presStyleLbl="node1" presStyleIdx="3" presStyleCnt="4" custScaleX="41328" custScaleY="32890" custLinFactY="17031" custLinFactNeighborX="-25667" custLinFactNeighborY="100000">
        <dgm:presLayoutVars>
          <dgm:chMax val="0"/>
          <dgm:bulletEnabled val="1"/>
        </dgm:presLayoutVars>
      </dgm:prSet>
      <dgm:spPr/>
    </dgm:pt>
  </dgm:ptLst>
  <dgm:cxnLst>
    <dgm:cxn modelId="{60194802-D9FA-4CF6-A768-1E41F734E714}" type="presOf" srcId="{EB91B0CF-7068-442F-8B18-4C80FF62A1B3}" destId="{883F977F-C753-4404-8609-C31BFFAF0A70}" srcOrd="0" destOrd="0" presId="urn:microsoft.com/office/officeart/2005/8/layout/vList2"/>
    <dgm:cxn modelId="{34099E18-91AC-4BBD-88F2-51A7BD940222}" type="presOf" srcId="{78CCE43F-1749-457B-82F6-28C26863CD5A}" destId="{7B084CDA-5FF3-4A76-AC60-706806629592}" srcOrd="0" destOrd="0" presId="urn:microsoft.com/office/officeart/2005/8/layout/vList2"/>
    <dgm:cxn modelId="{FAE35937-BEFD-4F6F-B488-F400D31A6211}" srcId="{0998BBF7-DD1A-47FD-B240-C92BC6D183D6}" destId="{78CCE43F-1749-457B-82F6-28C26863CD5A}" srcOrd="0" destOrd="0" parTransId="{6164F02E-3B20-43A9-9B00-969A211C3421}" sibTransId="{70A1B0CA-4621-4599-92F3-76DD278E522D}"/>
    <dgm:cxn modelId="{58C05F5B-7F68-450E-870C-97B0BE107AE2}" srcId="{0998BBF7-DD1A-47FD-B240-C92BC6D183D6}" destId="{EB91B0CF-7068-442F-8B18-4C80FF62A1B3}" srcOrd="3" destOrd="0" parTransId="{EE4C853A-337E-45E6-AA55-68BDDA9571E2}" sibTransId="{31E7BA8E-241D-4445-A6AC-EB62F8BEE8CC}"/>
    <dgm:cxn modelId="{36999E43-0158-46FC-9974-7EE5D93E45DC}" srcId="{0998BBF7-DD1A-47FD-B240-C92BC6D183D6}" destId="{CA1455E7-25C4-41DC-A3CD-3EC9DCA5DCE4}" srcOrd="1" destOrd="0" parTransId="{DBB596D2-FD32-4DEB-A35C-F6A91A75CA9C}" sibTransId="{95B74EEB-BD33-45B2-AE63-7CAD416D53FB}"/>
    <dgm:cxn modelId="{188B8B52-9A3F-4334-BE6E-7BC3E2F3301F}" srcId="{0998BBF7-DD1A-47FD-B240-C92BC6D183D6}" destId="{330F9BCB-E837-4E59-B699-3B63B1B81F02}" srcOrd="2" destOrd="0" parTransId="{29F3F995-EB52-41CB-8F97-735E1B0BD090}" sibTransId="{8EC4E3E8-4B56-40BF-B948-6074875C139B}"/>
    <dgm:cxn modelId="{7F3F4374-B2A6-47C0-AEEB-241CEB9CD643}" type="presOf" srcId="{0998BBF7-DD1A-47FD-B240-C92BC6D183D6}" destId="{AE2C1DE9-F8F7-4462-8D27-BC285441E99C}" srcOrd="0" destOrd="0" presId="urn:microsoft.com/office/officeart/2005/8/layout/vList2"/>
    <dgm:cxn modelId="{24C8F3A7-14F0-4660-9C49-66F0060C9036}" type="presOf" srcId="{CA1455E7-25C4-41DC-A3CD-3EC9DCA5DCE4}" destId="{3EA62BA1-3AAD-4A58-8661-A190D2CE16E7}" srcOrd="0" destOrd="0" presId="urn:microsoft.com/office/officeart/2005/8/layout/vList2"/>
    <dgm:cxn modelId="{3A7038CA-0A3C-4C86-8726-EE67C7A20E19}" type="presOf" srcId="{330F9BCB-E837-4E59-B699-3B63B1B81F02}" destId="{80BDD261-D9C0-4F90-BF8C-A36AFC73CB9C}" srcOrd="0" destOrd="0" presId="urn:microsoft.com/office/officeart/2005/8/layout/vList2"/>
    <dgm:cxn modelId="{09899DA2-EEF8-4A22-870B-41E1F5B6FC7F}" type="presParOf" srcId="{AE2C1DE9-F8F7-4462-8D27-BC285441E99C}" destId="{7B084CDA-5FF3-4A76-AC60-706806629592}" srcOrd="0" destOrd="0" presId="urn:microsoft.com/office/officeart/2005/8/layout/vList2"/>
    <dgm:cxn modelId="{1F1BDBD7-7A36-4039-975F-3420B0C61B15}" type="presParOf" srcId="{AE2C1DE9-F8F7-4462-8D27-BC285441E99C}" destId="{ECB7629D-B8BC-4048-95E7-98E77E6E2637}" srcOrd="1" destOrd="0" presId="urn:microsoft.com/office/officeart/2005/8/layout/vList2"/>
    <dgm:cxn modelId="{60A935F5-F90E-4DAE-BED4-DD628E8BC68E}" type="presParOf" srcId="{AE2C1DE9-F8F7-4462-8D27-BC285441E99C}" destId="{3EA62BA1-3AAD-4A58-8661-A190D2CE16E7}" srcOrd="2" destOrd="0" presId="urn:microsoft.com/office/officeart/2005/8/layout/vList2"/>
    <dgm:cxn modelId="{220E17EE-D827-4CDB-A318-4932DD3D9420}" type="presParOf" srcId="{AE2C1DE9-F8F7-4462-8D27-BC285441E99C}" destId="{BF17F2CB-7E78-4C37-AEA2-4D5A95977D3A}" srcOrd="3" destOrd="0" presId="urn:microsoft.com/office/officeart/2005/8/layout/vList2"/>
    <dgm:cxn modelId="{5C67660F-D5A7-401E-A19E-9A426E03D7EA}" type="presParOf" srcId="{AE2C1DE9-F8F7-4462-8D27-BC285441E99C}" destId="{80BDD261-D9C0-4F90-BF8C-A36AFC73CB9C}" srcOrd="4" destOrd="0" presId="urn:microsoft.com/office/officeart/2005/8/layout/vList2"/>
    <dgm:cxn modelId="{AA7FFD7E-B50C-4B4B-A48A-1584FA807B50}" type="presParOf" srcId="{AE2C1DE9-F8F7-4462-8D27-BC285441E99C}" destId="{E482BFF4-4E18-4352-8CBB-B424D75798C8}" srcOrd="5" destOrd="0" presId="urn:microsoft.com/office/officeart/2005/8/layout/vList2"/>
    <dgm:cxn modelId="{0C67850D-DDDF-472A-8648-BFC36AF23673}" type="presParOf" srcId="{AE2C1DE9-F8F7-4462-8D27-BC285441E99C}" destId="{883F977F-C753-4404-8609-C31BFFAF0A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84CDA-5FF3-4A76-AC60-706806629592}">
      <dsp:nvSpPr>
        <dsp:cNvPr id="0" name=""/>
        <dsp:cNvSpPr/>
      </dsp:nvSpPr>
      <dsp:spPr>
        <a:xfrm>
          <a:off x="143451" y="250734"/>
          <a:ext cx="3710667" cy="16586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Perceived relations</a:t>
          </a:r>
        </a:p>
      </dsp:txBody>
      <dsp:txXfrm>
        <a:off x="224417" y="331700"/>
        <a:ext cx="3548735" cy="1496669"/>
      </dsp:txXfrm>
    </dsp:sp>
    <dsp:sp modelId="{3EA62BA1-3AAD-4A58-8661-A190D2CE16E7}">
      <dsp:nvSpPr>
        <dsp:cNvPr id="0" name=""/>
        <dsp:cNvSpPr/>
      </dsp:nvSpPr>
      <dsp:spPr>
        <a:xfrm>
          <a:off x="143451" y="2305457"/>
          <a:ext cx="1615856" cy="7457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73.15%</a:t>
          </a:r>
        </a:p>
      </dsp:txBody>
      <dsp:txXfrm>
        <a:off x="179856" y="2341862"/>
        <a:ext cx="1543046" cy="672957"/>
      </dsp:txXfrm>
    </dsp:sp>
    <dsp:sp modelId="{80BDD261-D9C0-4F90-BF8C-A36AFC73CB9C}">
      <dsp:nvSpPr>
        <dsp:cNvPr id="0" name=""/>
        <dsp:cNvSpPr/>
      </dsp:nvSpPr>
      <dsp:spPr>
        <a:xfrm>
          <a:off x="143451" y="3704725"/>
          <a:ext cx="1615856" cy="7457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72.15%</a:t>
          </a:r>
        </a:p>
      </dsp:txBody>
      <dsp:txXfrm>
        <a:off x="179856" y="3741130"/>
        <a:ext cx="1543046" cy="672957"/>
      </dsp:txXfrm>
    </dsp:sp>
    <dsp:sp modelId="{883F977F-C753-4404-8609-C31BFFAF0A70}">
      <dsp:nvSpPr>
        <dsp:cNvPr id="0" name=""/>
        <dsp:cNvSpPr/>
      </dsp:nvSpPr>
      <dsp:spPr>
        <a:xfrm>
          <a:off x="143451" y="5427755"/>
          <a:ext cx="1615856" cy="7457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71.66%</a:t>
          </a:r>
        </a:p>
      </dsp:txBody>
      <dsp:txXfrm>
        <a:off x="179856" y="5464160"/>
        <a:ext cx="1543046" cy="672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6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4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3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7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4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8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2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29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odhistoricaldata.com/api/new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806AB-9BC0-CCAD-FEBC-8B2AFDD8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" r="11056"/>
          <a:stretch>
            <a:fillRect/>
          </a:stretch>
        </p:blipFill>
        <p:spPr>
          <a:xfrm>
            <a:off x="20" y="10"/>
            <a:ext cx="609598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2758239" y="0"/>
                </a:lnTo>
                <a:lnTo>
                  <a:pt x="2916747" y="218181"/>
                </a:lnTo>
                <a:cubicBezTo>
                  <a:pt x="3525935" y="1023180"/>
                  <a:pt x="4281133" y="1818277"/>
                  <a:pt x="4839749" y="2631787"/>
                </a:cubicBezTo>
                <a:cubicBezTo>
                  <a:pt x="5571203" y="3696928"/>
                  <a:pt x="6122704" y="4799581"/>
                  <a:pt x="6095001" y="5672947"/>
                </a:cubicBezTo>
                <a:cubicBezTo>
                  <a:pt x="6083564" y="6040467"/>
                  <a:pt x="5972980" y="6348559"/>
                  <a:pt x="5792922" y="6612444"/>
                </a:cubicBezTo>
                <a:cubicBezTo>
                  <a:pt x="5755410" y="6667420"/>
                  <a:pt x="5714882" y="6720477"/>
                  <a:pt x="5671607" y="6771753"/>
                </a:cubicBezTo>
                <a:lnTo>
                  <a:pt x="559164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5F5D1E8-E605-4EFC-8912-6E191F84F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789134">
            <a:off x="2400596" y="454890"/>
            <a:ext cx="3969651" cy="5948221"/>
          </a:xfrm>
          <a:custGeom>
            <a:avLst/>
            <a:gdLst>
              <a:gd name="connsiteX0" fmla="*/ 4594048 w 9861488"/>
              <a:gd name="connsiteY0" fmla="*/ 11458472 h 11458472"/>
              <a:gd name="connsiteX1" fmla="*/ 0 w 9861488"/>
              <a:gd name="connsiteY1" fmla="*/ 5948221 h 11458472"/>
              <a:gd name="connsiteX2" fmla="*/ 1863 w 9861488"/>
              <a:gd name="connsiteY2" fmla="*/ 5698862 h 11458472"/>
              <a:gd name="connsiteX3" fmla="*/ 320025 w 9861488"/>
              <a:gd name="connsiteY3" fmla="*/ 3799836 h 11458472"/>
              <a:gd name="connsiteX4" fmla="*/ 3430486 w 9861488"/>
              <a:gd name="connsiteY4" fmla="*/ 295907 h 11458472"/>
              <a:gd name="connsiteX5" fmla="*/ 3863859 w 9861488"/>
              <a:gd name="connsiteY5" fmla="*/ 55612 h 11458472"/>
              <a:gd name="connsiteX6" fmla="*/ 3969651 w 9861488"/>
              <a:gd name="connsiteY6" fmla="*/ 0 h 11458472"/>
              <a:gd name="connsiteX7" fmla="*/ 9861488 w 9861488"/>
              <a:gd name="connsiteY7" fmla="*/ 7066862 h 11458472"/>
              <a:gd name="connsiteX8" fmla="*/ 4594048 w 9861488"/>
              <a:gd name="connsiteY8" fmla="*/ 11458472 h 11458472"/>
              <a:gd name="connsiteX0" fmla="*/ 0 w 9861488"/>
              <a:gd name="connsiteY0" fmla="*/ 5948221 h 11549912"/>
              <a:gd name="connsiteX1" fmla="*/ 1863 w 9861488"/>
              <a:gd name="connsiteY1" fmla="*/ 5698862 h 11549912"/>
              <a:gd name="connsiteX2" fmla="*/ 320025 w 9861488"/>
              <a:gd name="connsiteY2" fmla="*/ 3799836 h 11549912"/>
              <a:gd name="connsiteX3" fmla="*/ 3430486 w 9861488"/>
              <a:gd name="connsiteY3" fmla="*/ 295907 h 11549912"/>
              <a:gd name="connsiteX4" fmla="*/ 3863859 w 9861488"/>
              <a:gd name="connsiteY4" fmla="*/ 55612 h 11549912"/>
              <a:gd name="connsiteX5" fmla="*/ 3969651 w 9861488"/>
              <a:gd name="connsiteY5" fmla="*/ 0 h 11549912"/>
              <a:gd name="connsiteX6" fmla="*/ 9861488 w 9861488"/>
              <a:gd name="connsiteY6" fmla="*/ 7066862 h 11549912"/>
              <a:gd name="connsiteX7" fmla="*/ 4685488 w 9861488"/>
              <a:gd name="connsiteY7" fmla="*/ 11549912 h 11549912"/>
              <a:gd name="connsiteX0" fmla="*/ 0 w 9861488"/>
              <a:gd name="connsiteY0" fmla="*/ 5948221 h 7066862"/>
              <a:gd name="connsiteX1" fmla="*/ 1863 w 9861488"/>
              <a:gd name="connsiteY1" fmla="*/ 5698862 h 7066862"/>
              <a:gd name="connsiteX2" fmla="*/ 320025 w 9861488"/>
              <a:gd name="connsiteY2" fmla="*/ 3799836 h 7066862"/>
              <a:gd name="connsiteX3" fmla="*/ 3430486 w 9861488"/>
              <a:gd name="connsiteY3" fmla="*/ 295907 h 7066862"/>
              <a:gd name="connsiteX4" fmla="*/ 3863859 w 9861488"/>
              <a:gd name="connsiteY4" fmla="*/ 55612 h 7066862"/>
              <a:gd name="connsiteX5" fmla="*/ 3969651 w 9861488"/>
              <a:gd name="connsiteY5" fmla="*/ 0 h 7066862"/>
              <a:gd name="connsiteX6" fmla="*/ 9861488 w 9861488"/>
              <a:gd name="connsiteY6" fmla="*/ 7066862 h 7066862"/>
              <a:gd name="connsiteX0" fmla="*/ 0 w 3969651"/>
              <a:gd name="connsiteY0" fmla="*/ 5948221 h 5948221"/>
              <a:gd name="connsiteX1" fmla="*/ 1863 w 3969651"/>
              <a:gd name="connsiteY1" fmla="*/ 5698862 h 5948221"/>
              <a:gd name="connsiteX2" fmla="*/ 320025 w 3969651"/>
              <a:gd name="connsiteY2" fmla="*/ 3799836 h 5948221"/>
              <a:gd name="connsiteX3" fmla="*/ 3430486 w 3969651"/>
              <a:gd name="connsiteY3" fmla="*/ 295907 h 5948221"/>
              <a:gd name="connsiteX4" fmla="*/ 3863859 w 3969651"/>
              <a:gd name="connsiteY4" fmla="*/ 55612 h 5948221"/>
              <a:gd name="connsiteX5" fmla="*/ 3969651 w 3969651"/>
              <a:gd name="connsiteY5" fmla="*/ 0 h 59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69651" h="5948221">
                <a:moveTo>
                  <a:pt x="0" y="5948221"/>
                </a:moveTo>
                <a:lnTo>
                  <a:pt x="1863" y="5698862"/>
                </a:lnTo>
                <a:cubicBezTo>
                  <a:pt x="27184" y="5017139"/>
                  <a:pt x="133214" y="4368297"/>
                  <a:pt x="320025" y="3799836"/>
                </a:cubicBezTo>
                <a:cubicBezTo>
                  <a:pt x="810579" y="2305232"/>
                  <a:pt x="2027133" y="1118138"/>
                  <a:pt x="3430486" y="295907"/>
                </a:cubicBezTo>
                <a:cubicBezTo>
                  <a:pt x="3545941" y="228312"/>
                  <a:pt x="3692079" y="146862"/>
                  <a:pt x="3863859" y="55612"/>
                </a:cubicBezTo>
                <a:lnTo>
                  <a:pt x="3969651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66FA5-1710-45D0-7C28-B3CFE0459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3700" dirty="0"/>
              <a:t>Retrieval Augmented Generation of Economic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75034-3DA2-229C-49A5-FE9524B40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Timothy Wilson</a:t>
            </a:r>
          </a:p>
          <a:p>
            <a:pPr algn="l"/>
            <a:r>
              <a:rPr lang="en-US" dirty="0"/>
              <a:t>12/10/25</a:t>
            </a:r>
          </a:p>
        </p:txBody>
      </p:sp>
    </p:spTree>
    <p:extLst>
      <p:ext uri="{BB962C8B-B14F-4D97-AF65-F5344CB8AC3E}">
        <p14:creationId xmlns:p14="http://schemas.microsoft.com/office/powerpoint/2010/main" val="1866726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1552-FA9E-7650-32F0-CF610E5A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A847-95E6-685E-6424-CCF52469C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that would deliver concrete hallucination-free and up-to-date market information based on simple user queries with the shortest possible delay.</a:t>
            </a:r>
          </a:p>
          <a:p>
            <a:r>
              <a:rPr lang="en-US" dirty="0"/>
              <a:t>“What are top causes for consumer uncertainty? (1 week)</a:t>
            </a:r>
          </a:p>
          <a:p>
            <a:r>
              <a:rPr lang="en-US" dirty="0"/>
              <a:t>Mechanism: Semantic search using Embeddings &amp;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9334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BBAA-3F93-ACD6-0F78-BFA91505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AI interprets words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1F81E2-7C32-15E1-65C1-2A899CC72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66437"/>
              </p:ext>
            </p:extLst>
          </p:nvPr>
        </p:nvGraphicFramePr>
        <p:xfrm>
          <a:off x="6985820" y="2047732"/>
          <a:ext cx="49013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476">
                  <a:extLst>
                    <a:ext uri="{9D8B030D-6E8A-4147-A177-3AD203B41FA5}">
                      <a16:colId xmlns:a16="http://schemas.microsoft.com/office/drawing/2014/main" val="3767608321"/>
                    </a:ext>
                  </a:extLst>
                </a:gridCol>
                <a:gridCol w="1142596">
                  <a:extLst>
                    <a:ext uri="{9D8B030D-6E8A-4147-A177-3AD203B41FA5}">
                      <a16:colId xmlns:a16="http://schemas.microsoft.com/office/drawing/2014/main" val="2705065366"/>
                    </a:ext>
                  </a:extLst>
                </a:gridCol>
                <a:gridCol w="1184914">
                  <a:extLst>
                    <a:ext uri="{9D8B030D-6E8A-4147-A177-3AD203B41FA5}">
                      <a16:colId xmlns:a16="http://schemas.microsoft.com/office/drawing/2014/main" val="4017613015"/>
                    </a:ext>
                  </a:extLst>
                </a:gridCol>
                <a:gridCol w="1214394">
                  <a:extLst>
                    <a:ext uri="{9D8B030D-6E8A-4147-A177-3AD203B41FA5}">
                      <a16:colId xmlns:a16="http://schemas.microsoft.com/office/drawing/2014/main" val="107743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Royal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3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9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10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58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746234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B6C05C-D2A7-D37E-D534-10E5F0CD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10668000" cy="3818083"/>
          </a:xfrm>
        </p:spPr>
        <p:txBody>
          <a:bodyPr>
            <a:normAutofit/>
          </a:bodyPr>
          <a:lstStyle/>
          <a:p>
            <a:r>
              <a:rPr lang="en-US" dirty="0"/>
              <a:t>Massive Vector Embeddings</a:t>
            </a:r>
          </a:p>
          <a:p>
            <a:r>
              <a:rPr lang="en-US" dirty="0"/>
              <a:t>Directionality = Semantics</a:t>
            </a:r>
          </a:p>
          <a:p>
            <a:r>
              <a:rPr lang="en-US" dirty="0"/>
              <a:t>This is NOT keyword matching</a:t>
            </a:r>
          </a:p>
          <a:p>
            <a:pPr lvl="1"/>
            <a:r>
              <a:rPr lang="en-US" dirty="0"/>
              <a:t>Regex vs Semantics</a:t>
            </a:r>
          </a:p>
          <a:p>
            <a:r>
              <a:rPr lang="en-US" dirty="0"/>
              <a:t>Values aren’t friendly (normalization)</a:t>
            </a:r>
          </a:p>
          <a:p>
            <a:r>
              <a:rPr lang="en-US" dirty="0"/>
              <a:t>Unit Vectors preserve semantics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39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0B54-6B1F-4B72-B244-F9C4B7A9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Development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5643-AF44-7322-B776-19083A05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 built locally in </a:t>
            </a:r>
            <a:r>
              <a:rPr lang="en-US" dirty="0" err="1"/>
              <a:t>VScode</a:t>
            </a:r>
            <a:r>
              <a:rPr lang="en-US" dirty="0"/>
              <a:t> (bad idea)</a:t>
            </a:r>
          </a:p>
          <a:p>
            <a:pPr lvl="1"/>
            <a:r>
              <a:rPr lang="en-US" dirty="0"/>
              <a:t> Small scale text files worked optimally</a:t>
            </a:r>
          </a:p>
          <a:p>
            <a:pPr lvl="1"/>
            <a:r>
              <a:rPr lang="en-US" dirty="0"/>
              <a:t>Large scale (13 MB) files reveal limitations of processing power.</a:t>
            </a:r>
          </a:p>
          <a:p>
            <a:pPr lvl="1"/>
            <a:r>
              <a:rPr lang="en-US" dirty="0"/>
              <a:t>Running on CPU due to conflicts.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Embeddings created upon query</a:t>
            </a:r>
          </a:p>
          <a:p>
            <a:pPr lvl="1"/>
            <a:r>
              <a:rPr lang="en-US" dirty="0"/>
              <a:t>User query also turned into embedding and compared</a:t>
            </a:r>
          </a:p>
        </p:txBody>
      </p:sp>
    </p:spTree>
    <p:extLst>
      <p:ext uri="{BB962C8B-B14F-4D97-AF65-F5344CB8AC3E}">
        <p14:creationId xmlns:p14="http://schemas.microsoft.com/office/powerpoint/2010/main" val="138448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1786-F731-A6A7-0169-84CE0BA0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BC82-5BA1-632A-9001-85D620FC4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A1AF4-F508-EC24-4280-F089CA2B7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on </a:t>
            </a:r>
            <a:r>
              <a:rPr lang="en-US" dirty="0" err="1"/>
              <a:t>HomeLab</a:t>
            </a:r>
            <a:r>
              <a:rPr lang="en-US" dirty="0"/>
              <a:t> and or cloud CPU vs GPU.</a:t>
            </a:r>
          </a:p>
          <a:p>
            <a:r>
              <a:rPr lang="en-US" dirty="0"/>
              <a:t>Use Larger embedding model.</a:t>
            </a:r>
          </a:p>
          <a:p>
            <a:r>
              <a:rPr lang="en-US" dirty="0"/>
              <a:t>API for specific market data rather than just 10K documents.</a:t>
            </a:r>
          </a:p>
        </p:txBody>
      </p:sp>
    </p:spTree>
    <p:extLst>
      <p:ext uri="{BB962C8B-B14F-4D97-AF65-F5344CB8AC3E}">
        <p14:creationId xmlns:p14="http://schemas.microsoft.com/office/powerpoint/2010/main" val="3084927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5485-7693-5865-4371-4074AAA5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1B744-920E-2144-433A-C908FCA732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48466"/>
                <a:ext cx="10668000" cy="425561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Mathematically determine how "similar" a user's question is to a specific news article chunk.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similarity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𝐁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∥∥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en-US" b="0" dirty="0"/>
              </a:p>
              <a:p>
                <a:r>
                  <a:rPr lang="en-US" dirty="0"/>
                  <a:t>Normalized Similarity =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Score Interpretation 0-1:</a:t>
                </a:r>
              </a:p>
              <a:p>
                <a:r>
                  <a:rPr lang="en-US" dirty="0"/>
                  <a:t>1.0 means perfect alignment.</a:t>
                </a:r>
                <a:br>
                  <a:rPr lang="en-US" dirty="0"/>
                </a:br>
                <a:r>
                  <a:rPr lang="en-US" dirty="0"/>
                  <a:t>0.0 means no semantic relation.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1B744-920E-2144-433A-C908FCA73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48466"/>
                <a:ext cx="10668000" cy="4255618"/>
              </a:xfrm>
              <a:blipFill>
                <a:blip r:embed="rId2"/>
                <a:stretch>
                  <a:fillRect l="-857" t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structure&#10;&#10;AI-generated content may be incorrect.">
            <a:extLst>
              <a:ext uri="{FF2B5EF4-FFF2-40B4-BE49-F238E27FC236}">
                <a16:creationId xmlns:a16="http://schemas.microsoft.com/office/drawing/2014/main" id="{18AF97EE-9026-6D07-1766-B84BB50DF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004" y="3022042"/>
            <a:ext cx="3814452" cy="286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1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E9B86C0-FDA1-4FEB-807F-B6CA59CE8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17019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E2D1D-7893-42B0-6C37-C08B6A2D2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29" y="1641959"/>
            <a:ext cx="8705870" cy="381000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Information Consumption</a:t>
            </a:r>
          </a:p>
          <a:p>
            <a:pPr lvl="1"/>
            <a:r>
              <a:rPr lang="en-US" dirty="0">
                <a:hlinkClick r:id="rId2"/>
              </a:rPr>
              <a:t>https://eodhistoricaldata.com/api/news</a:t>
            </a:r>
            <a:endParaRPr lang="en-US" dirty="0"/>
          </a:p>
          <a:p>
            <a:r>
              <a:rPr lang="en-US" sz="2400" dirty="0"/>
              <a:t>Embedding</a:t>
            </a:r>
          </a:p>
          <a:p>
            <a:r>
              <a:rPr lang="en-US" sz="2400" dirty="0"/>
              <a:t>OLD:</a:t>
            </a:r>
          </a:p>
          <a:p>
            <a:r>
              <a:rPr lang="en-US" dirty="0"/>
              <a:t>all-MiniLM-L6-v2</a:t>
            </a:r>
          </a:p>
          <a:p>
            <a:r>
              <a:rPr lang="en-US" dirty="0"/>
              <a:t>NEW:</a:t>
            </a:r>
          </a:p>
          <a:p>
            <a:r>
              <a:rPr lang="en-US" dirty="0"/>
              <a:t>BAAI/bge-large-en-v1.5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26FCF-247D-2E9B-CBC5-C4C57C82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9437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 dirty="0"/>
              <a:t>Design</a:t>
            </a:r>
          </a:p>
        </p:txBody>
      </p:sp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5B9F1CEB-272B-1B4F-3BBB-4D985BCC3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068" y="2789251"/>
            <a:ext cx="736385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3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C8195-2B72-155D-577D-8D489178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C56F-CEFC-84C8-A252-34F4F3B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675" y="119462"/>
            <a:ext cx="4424959" cy="9658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Opportunities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1668AD-81BB-4C7B-4C12-3409562E80D5}"/>
              </a:ext>
            </a:extLst>
          </p:cNvPr>
          <p:cNvSpPr txBox="1">
            <a:spLocks/>
          </p:cNvSpPr>
          <p:nvPr/>
        </p:nvSpPr>
        <p:spPr>
          <a:xfrm>
            <a:off x="464270" y="2322378"/>
            <a:ext cx="10530672" cy="40592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0F9D26-FE1D-4974-410E-71C826996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175" y="1609697"/>
            <a:ext cx="7078452" cy="43935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Store Embeddings rather than text files</a:t>
            </a:r>
          </a:p>
          <a:p>
            <a:r>
              <a:rPr lang="en-US" dirty="0"/>
              <a:t>Full calculation only necessary for new files</a:t>
            </a:r>
          </a:p>
          <a:p>
            <a:r>
              <a:rPr lang="en-US" dirty="0"/>
              <a:t>Theoretically take list of popular or standard questions</a:t>
            </a:r>
          </a:p>
          <a:p>
            <a:r>
              <a:rPr lang="en-US" dirty="0"/>
              <a:t> -no real improvement predicted</a:t>
            </a:r>
          </a:p>
          <a:p>
            <a:r>
              <a:rPr lang="en-US" dirty="0"/>
              <a:t>Only assists on massive query that is unlikely to be represented</a:t>
            </a:r>
          </a:p>
          <a:p>
            <a:r>
              <a:rPr lang="en-US" dirty="0"/>
              <a:t>Remove chunks containing end of article.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128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B4001-A3B6-B4C9-4EE3-68601E14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169" y="503012"/>
            <a:ext cx="4457784" cy="9658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Article Processing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0572931-961B-4A48-8B38-E9A9DB6E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0F29AAD2-96E3-4A6F-9A5E-B6B9E7E11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3906" y="5720962"/>
            <a:ext cx="4228094" cy="1137038"/>
          </a:xfrm>
          <a:custGeom>
            <a:avLst/>
            <a:gdLst>
              <a:gd name="connsiteX0" fmla="*/ 1673074 w 4228094"/>
              <a:gd name="connsiteY0" fmla="*/ 230 h 1137038"/>
              <a:gd name="connsiteX1" fmla="*/ 3676781 w 4228094"/>
              <a:gd name="connsiteY1" fmla="*/ 298555 h 1137038"/>
              <a:gd name="connsiteX2" fmla="*/ 4025527 w 4228094"/>
              <a:gd name="connsiteY2" fmla="*/ 425010 h 1137038"/>
              <a:gd name="connsiteX3" fmla="*/ 4228094 w 4228094"/>
              <a:gd name="connsiteY3" fmla="*/ 494088 h 1137038"/>
              <a:gd name="connsiteX4" fmla="*/ 4228094 w 4228094"/>
              <a:gd name="connsiteY4" fmla="*/ 1137038 h 1137038"/>
              <a:gd name="connsiteX5" fmla="*/ 0 w 4228094"/>
              <a:gd name="connsiteY5" fmla="*/ 1137038 h 1137038"/>
              <a:gd name="connsiteX6" fmla="*/ 18109 w 4228094"/>
              <a:gd name="connsiteY6" fmla="*/ 1068877 h 1137038"/>
              <a:gd name="connsiteX7" fmla="*/ 362264 w 4228094"/>
              <a:gd name="connsiteY7" fmla="*/ 366637 h 1137038"/>
              <a:gd name="connsiteX8" fmla="*/ 1386499 w 4228094"/>
              <a:gd name="connsiteY8" fmla="*/ 1522 h 1137038"/>
              <a:gd name="connsiteX9" fmla="*/ 1673074 w 4228094"/>
              <a:gd name="connsiteY9" fmla="*/ 230 h 1137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094" h="1137038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5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EC84841-2631-44D2-A01B-6AF0CF7F7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3921" y="5620196"/>
            <a:ext cx="5038078" cy="1237805"/>
          </a:xfrm>
          <a:custGeom>
            <a:avLst/>
            <a:gdLst>
              <a:gd name="connsiteX0" fmla="*/ 1576991 w 5038078"/>
              <a:gd name="connsiteY0" fmla="*/ 210 h 1238015"/>
              <a:gd name="connsiteX1" fmla="*/ 3403320 w 5038078"/>
              <a:gd name="connsiteY1" fmla="*/ 272125 h 1238015"/>
              <a:gd name="connsiteX2" fmla="*/ 4672870 w 5038078"/>
              <a:gd name="connsiteY2" fmla="*/ 693604 h 1238015"/>
              <a:gd name="connsiteX3" fmla="*/ 5038078 w 5038078"/>
              <a:gd name="connsiteY3" fmla="*/ 795929 h 1238015"/>
              <a:gd name="connsiteX4" fmla="*/ 5038078 w 5038078"/>
              <a:gd name="connsiteY4" fmla="*/ 1238015 h 1238015"/>
              <a:gd name="connsiteX5" fmla="*/ 0 w 5038078"/>
              <a:gd name="connsiteY5" fmla="*/ 1238015 h 1238015"/>
              <a:gd name="connsiteX6" fmla="*/ 19230 w 5038078"/>
              <a:gd name="connsiteY6" fmla="*/ 1159819 h 1238015"/>
              <a:gd name="connsiteX7" fmla="*/ 382219 w 5038078"/>
              <a:gd name="connsiteY7" fmla="*/ 334180 h 1238015"/>
              <a:gd name="connsiteX8" fmla="*/ 1315784 w 5038078"/>
              <a:gd name="connsiteY8" fmla="*/ 1388 h 1238015"/>
              <a:gd name="connsiteX9" fmla="*/ 1576991 w 5038078"/>
              <a:gd name="connsiteY9" fmla="*/ 210 h 1238015"/>
              <a:gd name="connsiteX0" fmla="*/ 0 w 5129518"/>
              <a:gd name="connsiteY0" fmla="*/ 1237805 h 1329245"/>
              <a:gd name="connsiteX1" fmla="*/ 19230 w 5129518"/>
              <a:gd name="connsiteY1" fmla="*/ 1159609 h 1329245"/>
              <a:gd name="connsiteX2" fmla="*/ 382219 w 5129518"/>
              <a:gd name="connsiteY2" fmla="*/ 333970 h 1329245"/>
              <a:gd name="connsiteX3" fmla="*/ 1315784 w 5129518"/>
              <a:gd name="connsiteY3" fmla="*/ 1178 h 1329245"/>
              <a:gd name="connsiteX4" fmla="*/ 1576991 w 5129518"/>
              <a:gd name="connsiteY4" fmla="*/ 0 h 1329245"/>
              <a:gd name="connsiteX5" fmla="*/ 3403320 w 5129518"/>
              <a:gd name="connsiteY5" fmla="*/ 271915 h 1329245"/>
              <a:gd name="connsiteX6" fmla="*/ 4672870 w 5129518"/>
              <a:gd name="connsiteY6" fmla="*/ 693394 h 1329245"/>
              <a:gd name="connsiteX7" fmla="*/ 5038078 w 5129518"/>
              <a:gd name="connsiteY7" fmla="*/ 795719 h 1329245"/>
              <a:gd name="connsiteX8" fmla="*/ 5129518 w 5129518"/>
              <a:gd name="connsiteY8" fmla="*/ 1329245 h 1329245"/>
              <a:gd name="connsiteX0" fmla="*/ 0 w 5129518"/>
              <a:gd name="connsiteY0" fmla="*/ 1237805 h 1329245"/>
              <a:gd name="connsiteX1" fmla="*/ 19230 w 5129518"/>
              <a:gd name="connsiteY1" fmla="*/ 1159609 h 1329245"/>
              <a:gd name="connsiteX2" fmla="*/ 382219 w 5129518"/>
              <a:gd name="connsiteY2" fmla="*/ 333970 h 1329245"/>
              <a:gd name="connsiteX3" fmla="*/ 1315784 w 5129518"/>
              <a:gd name="connsiteY3" fmla="*/ 1178 h 1329245"/>
              <a:gd name="connsiteX4" fmla="*/ 1576991 w 5129518"/>
              <a:gd name="connsiteY4" fmla="*/ 0 h 1329245"/>
              <a:gd name="connsiteX5" fmla="*/ 3403320 w 5129518"/>
              <a:gd name="connsiteY5" fmla="*/ 271915 h 1329245"/>
              <a:gd name="connsiteX6" fmla="*/ 4672870 w 5129518"/>
              <a:gd name="connsiteY6" fmla="*/ 693394 h 1329245"/>
              <a:gd name="connsiteX7" fmla="*/ 5038078 w 5129518"/>
              <a:gd name="connsiteY7" fmla="*/ 795719 h 1329245"/>
              <a:gd name="connsiteX8" fmla="*/ 5129518 w 5129518"/>
              <a:gd name="connsiteY8" fmla="*/ 1329245 h 1329245"/>
              <a:gd name="connsiteX0" fmla="*/ 0 w 5049689"/>
              <a:gd name="connsiteY0" fmla="*/ 1237805 h 1423588"/>
              <a:gd name="connsiteX1" fmla="*/ 19230 w 5049689"/>
              <a:gd name="connsiteY1" fmla="*/ 1159609 h 1423588"/>
              <a:gd name="connsiteX2" fmla="*/ 382219 w 5049689"/>
              <a:gd name="connsiteY2" fmla="*/ 333970 h 1423588"/>
              <a:gd name="connsiteX3" fmla="*/ 1315784 w 5049689"/>
              <a:gd name="connsiteY3" fmla="*/ 1178 h 1423588"/>
              <a:gd name="connsiteX4" fmla="*/ 1576991 w 5049689"/>
              <a:gd name="connsiteY4" fmla="*/ 0 h 1423588"/>
              <a:gd name="connsiteX5" fmla="*/ 3403320 w 5049689"/>
              <a:gd name="connsiteY5" fmla="*/ 271915 h 1423588"/>
              <a:gd name="connsiteX6" fmla="*/ 4672870 w 5049689"/>
              <a:gd name="connsiteY6" fmla="*/ 693394 h 1423588"/>
              <a:gd name="connsiteX7" fmla="*/ 5038078 w 5049689"/>
              <a:gd name="connsiteY7" fmla="*/ 795719 h 1423588"/>
              <a:gd name="connsiteX8" fmla="*/ 5049689 w 5049689"/>
              <a:gd name="connsiteY8" fmla="*/ 1423588 h 1423588"/>
              <a:gd name="connsiteX0" fmla="*/ 0 w 5038078"/>
              <a:gd name="connsiteY0" fmla="*/ 1237805 h 1237805"/>
              <a:gd name="connsiteX1" fmla="*/ 19230 w 5038078"/>
              <a:gd name="connsiteY1" fmla="*/ 1159609 h 1237805"/>
              <a:gd name="connsiteX2" fmla="*/ 382219 w 5038078"/>
              <a:gd name="connsiteY2" fmla="*/ 333970 h 1237805"/>
              <a:gd name="connsiteX3" fmla="*/ 1315784 w 5038078"/>
              <a:gd name="connsiteY3" fmla="*/ 1178 h 1237805"/>
              <a:gd name="connsiteX4" fmla="*/ 1576991 w 5038078"/>
              <a:gd name="connsiteY4" fmla="*/ 0 h 1237805"/>
              <a:gd name="connsiteX5" fmla="*/ 3403320 w 5038078"/>
              <a:gd name="connsiteY5" fmla="*/ 271915 h 1237805"/>
              <a:gd name="connsiteX6" fmla="*/ 4672870 w 5038078"/>
              <a:gd name="connsiteY6" fmla="*/ 693394 h 1237805"/>
              <a:gd name="connsiteX7" fmla="*/ 5038078 w 5038078"/>
              <a:gd name="connsiteY7" fmla="*/ 795719 h 1237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8078" h="1237805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194DF7-CFC0-C645-3919-4A42B72E64F6}"/>
              </a:ext>
            </a:extLst>
          </p:cNvPr>
          <p:cNvSpPr txBox="1">
            <a:spLocks/>
          </p:cNvSpPr>
          <p:nvPr/>
        </p:nvSpPr>
        <p:spPr>
          <a:xfrm>
            <a:off x="464270" y="2322378"/>
            <a:ext cx="10530672" cy="40592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DF09106-9F3C-4F7F-4CB2-40CE625F2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175" y="1609697"/>
            <a:ext cx="7078452" cy="4393538"/>
          </a:xfrm>
        </p:spPr>
        <p:txBody>
          <a:bodyPr>
            <a:normAutofit fontScale="92500" lnSpcReduction="10000"/>
          </a:bodyPr>
          <a:lstStyle/>
          <a:p>
            <a:endParaRPr lang="en-US" sz="2400" dirty="0"/>
          </a:p>
          <a:p>
            <a:r>
              <a:rPr lang="en-US" dirty="0"/>
              <a:t>Chunking</a:t>
            </a:r>
            <a:endParaRPr lang="en-US" sz="2400" dirty="0"/>
          </a:p>
          <a:p>
            <a:pPr lvl="1"/>
            <a:r>
              <a:rPr lang="en-US" dirty="0"/>
              <a:t>Size: 500</a:t>
            </a:r>
            <a:endParaRPr lang="en-US" sz="2000" dirty="0"/>
          </a:p>
          <a:p>
            <a:pPr lvl="1"/>
            <a:r>
              <a:rPr lang="en-US" dirty="0"/>
              <a:t>Overlap: 50</a:t>
            </a:r>
          </a:p>
          <a:p>
            <a:pPr lvl="2"/>
            <a:r>
              <a:rPr lang="en-US" dirty="0"/>
              <a:t>Overlapping intent</a:t>
            </a:r>
          </a:p>
          <a:p>
            <a:r>
              <a:rPr lang="en-US" dirty="0"/>
              <a:t>API data required cleaning</a:t>
            </a:r>
          </a:p>
          <a:p>
            <a:r>
              <a:rPr lang="en-US" dirty="0"/>
              <a:t>Embedding</a:t>
            </a:r>
            <a:endParaRPr lang="en-US" sz="2400" dirty="0"/>
          </a:p>
          <a:p>
            <a:pPr lvl="1"/>
            <a:r>
              <a:rPr lang="en-US" dirty="0"/>
              <a:t>MiniLM-L6-v2 (384)</a:t>
            </a:r>
            <a:endParaRPr lang="en-US" sz="2000" dirty="0"/>
          </a:p>
          <a:p>
            <a:pPr lvl="1"/>
            <a:r>
              <a:rPr lang="en-US" dirty="0"/>
              <a:t>BAAI/bge-large-en-v1.5 (1024)</a:t>
            </a:r>
            <a:endParaRPr lang="en-US" sz="2000" dirty="0">
              <a:effectLst/>
            </a:endParaRP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EE48262-45F0-31A8-C5EF-98B1FCA6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47" y="-4227"/>
            <a:ext cx="6384052" cy="69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F6F945-08BE-4D33-9FAA-86D383E8D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0D0B5-ECA7-E555-C5FE-BF54B5E1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58" y="-206349"/>
            <a:ext cx="5334000" cy="1524000"/>
          </a:xfrm>
        </p:spPr>
        <p:txBody>
          <a:bodyPr>
            <a:normAutofit/>
          </a:bodyPr>
          <a:lstStyle/>
          <a:p>
            <a:r>
              <a:rPr lang="en-US" sz="5400" dirty="0"/>
              <a:t>Results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5AB4ACE-8218-41B8-759D-3FD213297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2" y="1074458"/>
            <a:ext cx="7621064" cy="5715798"/>
          </a:xfrm>
          <a:prstGeom prst="rect">
            <a:avLst/>
          </a:prstGeom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9B29745-5F59-55AD-6C00-EA659CECA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047202"/>
              </p:ext>
            </p:extLst>
          </p:nvPr>
        </p:nvGraphicFramePr>
        <p:xfrm>
          <a:off x="7623406" y="122903"/>
          <a:ext cx="3909834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31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063B-A991-3BFE-C3C9-223909FF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60FCE-439F-C2DE-B767-7EF1525E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program runs as expected, returning the relevant data</a:t>
            </a:r>
          </a:p>
          <a:p>
            <a:r>
              <a:rPr lang="en-US" dirty="0"/>
              <a:t>Capabilities mainly bound by API choice and pricing</a:t>
            </a:r>
          </a:p>
          <a:p>
            <a:r>
              <a:rPr lang="en-US" dirty="0"/>
              <a:t>Speed was a main concern, but an interesting restructure would feed the most similar embeddings into a standard LLM for conversational tone. </a:t>
            </a:r>
          </a:p>
          <a:p>
            <a:pPr lvl="1"/>
            <a:r>
              <a:rPr lang="en-US" dirty="0"/>
              <a:t>Jeopardizes time constraint &amp; reintroduces chance of hallucinations</a:t>
            </a:r>
          </a:p>
        </p:txBody>
      </p:sp>
    </p:spTree>
    <p:extLst>
      <p:ext uri="{BB962C8B-B14F-4D97-AF65-F5344CB8AC3E}">
        <p14:creationId xmlns:p14="http://schemas.microsoft.com/office/powerpoint/2010/main" val="4144858542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EDCEAF9BBC484594333773575962C3" ma:contentTypeVersion="12" ma:contentTypeDescription="Create a new document." ma:contentTypeScope="" ma:versionID="83febe25dbe8002229b3e8d128259548">
  <xsd:schema xmlns:xsd="http://www.w3.org/2001/XMLSchema" xmlns:xs="http://www.w3.org/2001/XMLSchema" xmlns:p="http://schemas.microsoft.com/office/2006/metadata/properties" xmlns:ns3="91c71066-ec7a-4836-8d37-c94b4df23d95" targetNamespace="http://schemas.microsoft.com/office/2006/metadata/properties" ma:root="true" ma:fieldsID="4dee0510c8a2a44d143e9b23653014d2" ns3:_="">
    <xsd:import namespace="91c71066-ec7a-4836-8d37-c94b4df23d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c71066-ec7a-4836-8d37-c94b4df23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c71066-ec7a-4836-8d37-c94b4df23d95" xsi:nil="true"/>
  </documentManagement>
</p:properties>
</file>

<file path=customXml/itemProps1.xml><?xml version="1.0" encoding="utf-8"?>
<ds:datastoreItem xmlns:ds="http://schemas.openxmlformats.org/officeDocument/2006/customXml" ds:itemID="{97000A01-8536-464A-9A74-B1708A9701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c71066-ec7a-4836-8d37-c94b4df23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E081DF-AC4E-467A-B76A-0CA66EEED7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7C6244-0A18-4AF3-80DA-D615D11EECC6}">
  <ds:schemaRefs>
    <ds:schemaRef ds:uri="http://schemas.microsoft.com/office/2006/metadata/properties"/>
    <ds:schemaRef ds:uri="http://purl.org/dc/terms/"/>
    <ds:schemaRef ds:uri="91c71066-ec7a-4836-8d37-c94b4df23d95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380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</vt:lpstr>
      <vt:lpstr>Avenir Next LT Pro Light</vt:lpstr>
      <vt:lpstr>Cambria Math</vt:lpstr>
      <vt:lpstr>Sitka Subheading</vt:lpstr>
      <vt:lpstr>PebbleVTI</vt:lpstr>
      <vt:lpstr>Retrieval Augmented Generation of Economic Data</vt:lpstr>
      <vt:lpstr>The Goal</vt:lpstr>
      <vt:lpstr>How AI interprets words</vt:lpstr>
      <vt:lpstr>Initial Development Stages</vt:lpstr>
      <vt:lpstr>Next Targets</vt:lpstr>
      <vt:lpstr>Cosine Similarity</vt:lpstr>
      <vt:lpstr>Design</vt:lpstr>
      <vt:lpstr>Opportunities</vt:lpstr>
      <vt:lpstr>Article Processing</vt:lpstr>
      <vt:lpstr>Results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M. Wilson</dc:creator>
  <cp:lastModifiedBy>Timothy M. Wilson</cp:lastModifiedBy>
  <cp:revision>3</cp:revision>
  <dcterms:created xsi:type="dcterms:W3CDTF">2025-12-05T17:53:29Z</dcterms:created>
  <dcterms:modified xsi:type="dcterms:W3CDTF">2025-12-10T23:43:40Z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0x010100CBEDCEAF9BBC484594333773575962C3</vt:lpwstr>
  </property>
</Properties>
</file>